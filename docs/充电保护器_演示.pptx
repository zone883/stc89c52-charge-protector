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0"/>
            <a:ext cx="51435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0515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93C5FD"/>
                </a:solidFill>
                <a:latin typeface="微软雅黑"/>
                <a:ea typeface="微软雅黑"/>
              </a:rPr>
              <a:t>深圳大学 物光创新实验室（CPOE）· 2026 招新作品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充电保护器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微软雅黑"/>
                <a:ea typeface="微软雅黑"/>
              </a:rPr>
              <a:t>基于 51 单片机的充电过流保护 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微软雅黑"/>
                <a:ea typeface="微软雅黑"/>
              </a:rPr>
              <a:t>充满自动断电装置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1772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1B2942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1338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STC89C52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4617720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1B2942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617720"/>
            <a:ext cx="14493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INA219 电流检测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8748" y="4617720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1B2942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8748" y="4617720"/>
            <a:ext cx="8183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继电器切断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617720"/>
            <a:ext cx="2185416" cy="384048"/>
          </a:xfrm>
          <a:prstGeom prst="roundRect">
            <a:avLst>
              <a:gd name="adj" fmla="val 50000"/>
            </a:avLst>
          </a:prstGeom>
          <a:solidFill>
            <a:srgbClr val="1B2942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617720"/>
            <a:ext cx="21854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Keil C51 · 0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微软雅黑"/>
                <a:ea typeface="微软雅黑"/>
              </a:rPr>
              <a:t>姓名：【请填写】　　学号：【请填写】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828800"/>
            <a:ext cx="3657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400" b="1">
                <a:solidFill>
                  <a:srgbClr val="1D4ED8"/>
                </a:solidFill>
                <a:latin typeface="微软雅黑"/>
                <a:ea typeface="微软雅黑"/>
              </a:rPr>
              <a:t>CONTENTS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从任务要求到实物照片，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再到三个真实踩过的硬件坑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737360"/>
            <a:ext cx="6675120" cy="51206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737360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737360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项目背景与目标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737360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任务要求 ↔ 我的实现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340864"/>
            <a:ext cx="667512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340864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40864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系统方案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40864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硬件框图与引脚分配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944368"/>
            <a:ext cx="6675120" cy="51206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944368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44368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硬件实物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44368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三张实拍照片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3547872"/>
            <a:ext cx="667512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547872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547872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软件设计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547872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状态机与非阻塞主循环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4151376"/>
            <a:ext cx="6675120" cy="51206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4151376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151376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实现情况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151376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已完成 / 受硬件限制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754880"/>
            <a:ext cx="667512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4754880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EA580C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754880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遇到的三个问题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754880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传感器 · 焊接 · 接触不良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5358384"/>
            <a:ext cx="6675120" cy="51206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5358384"/>
            <a:ext cx="548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5358384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收获与展望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358384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学到什么，接下来做什么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0E7490"/>
                </a:solidFill>
                <a:latin typeface="微软雅黑"/>
                <a:ea typeface="微软雅黑"/>
              </a:rPr>
              <a:t>招新任务要求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783080"/>
            <a:ext cx="484632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" y="1783080"/>
            <a:ext cx="64008" cy="8412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充满自动断电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电池充好后自动切断充电回路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2752344"/>
            <a:ext cx="484632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2752344"/>
            <a:ext cx="64008" cy="8412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4378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按键设置阈值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6382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能调整保护 / 判满的电流门槛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3721608"/>
            <a:ext cx="484632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" y="3721608"/>
            <a:ext cx="64008" cy="8412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显示充电时间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3308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能看到这次已经充了多久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4690872"/>
            <a:ext cx="484632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" y="4690872"/>
            <a:ext cx="64008" cy="8412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8231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温度保护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温度过高时停止充电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5669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另外我给自己加了一条：</a:t>
            </a:r>
            <a:r>
              <a:rPr sz="1100" b="1">
                <a:solidFill>
                  <a:srgbClr val="1D4ED8"/>
                </a:solidFill>
                <a:latin typeface="微软雅黑"/>
                <a:ea typeface="微软雅黑"/>
              </a:rPr>
              <a:t>过流保护</a:t>
            </a: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—— 电流超标时像空气开关一样跳闸并自锁。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13716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1D4ED8"/>
                </a:solidFill>
                <a:latin typeface="微软雅黑"/>
                <a:ea typeface="微软雅黑"/>
              </a:rPr>
              <a:t>我的实现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783080"/>
            <a:ext cx="58064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856231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</a:rPr>
              <a:t>电流 &lt; 阈值持续 5 秒 → 判满断电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1671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不用「电流 == 0」，充电末期电流只衰减到几十 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2642615"/>
            <a:ext cx="58064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27157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</a:rPr>
              <a:t>K1/K2 调整 FULL 与 OVER，K3 长按切换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026663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默认 FULL = 20mA、OVER = 100mA，一档 20mA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3502151"/>
            <a:ext cx="58064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3575303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</a:rPr>
              <a:t>定时器 1ms 心跳计时，LCD 显示 时:分:秒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8862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还能翻页看电压 / 电流 / 阈值 / 自检结果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4361688"/>
            <a:ext cx="58064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443484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</a:rPr>
              <a:t>DS18B20 超温断电 + 2℃ 回差恢复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74573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传感器硬件故障，代码完整保留、功能用宏关闭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5221223"/>
            <a:ext cx="58064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294375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</a:rPr>
              <a:t>电流超限 1 秒 → 继电器跳闸并自锁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605271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必须按 K4 手动复位，像家里的空气开关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系统方案：测量在主回路，控制只认一个结论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2194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5V 电源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463040"/>
            <a:ext cx="502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E7490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194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继电器 COM /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9" y="1463040"/>
            <a:ext cx="502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E7490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199" y="146304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199" y="1463040"/>
            <a:ext cx="2194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INA219 电流 / 电压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1463040"/>
            <a:ext cx="502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0E7490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46304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463040"/>
            <a:ext cx="21945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负载（LCD1602）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4203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测量芯片必须</a:t>
            </a:r>
            <a:r>
              <a:rPr sz="1100" b="1">
                <a:solidFill>
                  <a:srgbClr val="1A1A1A"/>
                </a:solidFill>
                <a:latin typeface="微软雅黑"/>
                <a:ea typeface="微软雅黑"/>
              </a:rPr>
              <a:t>串进主回路</a:t>
            </a: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才能测到电流；继电器负责真正把回路断开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063240"/>
            <a:ext cx="3291840" cy="2743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91840"/>
            <a:ext cx="2743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STC89C52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3C5FD"/>
                </a:solidFill>
                <a:latin typeface="微软雅黑"/>
                <a:ea typeface="微软雅黑"/>
              </a:rPr>
              <a:t>主控 · 8051 内核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3C5FD"/>
                </a:solidFill>
                <a:latin typeface="微软雅黑"/>
                <a:ea typeface="微软雅黑"/>
              </a:rPr>
              <a:t>状态机 + 非阻塞主循环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3C5FD"/>
                </a:solidFill>
                <a:latin typeface="微软雅黑"/>
                <a:ea typeface="微软雅黑"/>
              </a:rPr>
              <a:t>1ms 定时器心跳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063240"/>
            <a:ext cx="754380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3108960"/>
            <a:ext cx="123444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108960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微软雅黑"/>
                <a:ea typeface="微软雅黑"/>
              </a:rPr>
              <a:t>P1.0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108960"/>
            <a:ext cx="5852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继电器控制（低电平触发，极性做成宏）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520440"/>
            <a:ext cx="754380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06240" y="3566160"/>
            <a:ext cx="123444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3566160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微软雅黑"/>
                <a:ea typeface="微软雅黑"/>
              </a:rPr>
              <a:t>P1.2 / P1.3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566160"/>
            <a:ext cx="5852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INA219 的 I2C（软件模拟 + 总线恢复）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3977639"/>
            <a:ext cx="754380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4023359"/>
            <a:ext cx="123444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023359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微软雅黑"/>
                <a:ea typeface="微软雅黑"/>
              </a:rPr>
              <a:t>P3.7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023359"/>
            <a:ext cx="5852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DS18B20 单总线（硬件故障，代码保留）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80" y="4434840"/>
            <a:ext cx="754380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06240" y="4480559"/>
            <a:ext cx="123444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480559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微软雅黑"/>
                <a:ea typeface="微软雅黑"/>
              </a:rPr>
              <a:t>P3.0 ~ P3.3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480559"/>
            <a:ext cx="5852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独立按键 K1~K4，短按 + 长按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69080" y="4892040"/>
            <a:ext cx="754380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06240" y="4937759"/>
            <a:ext cx="123444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4937759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微软雅黑"/>
                <a:ea typeface="微软雅黑"/>
              </a:rPr>
              <a:t>P2.0 ~ P2.7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937759"/>
            <a:ext cx="5852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板载 8 个 LED：电流柱状条 / 状态闪烁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5349240"/>
            <a:ext cx="754380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06240" y="5394959"/>
            <a:ext cx="123444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5394959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微软雅黑"/>
                <a:ea typeface="微软雅黑"/>
              </a:rPr>
              <a:t>P0 + P2.5~2.7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5394959"/>
            <a:ext cx="5852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LCD1602 或 8x8 点阵，开机自动二选一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硬件实物</a:t>
            </a:r>
          </a:p>
        </p:txBody>
      </p:sp>
      <p:pic>
        <p:nvPicPr>
          <p:cNvPr id="5" name="Picture 4" descr="photo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371600"/>
            <a:ext cx="267462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36192" y="501091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整机接线：开发板 + LCD1602 + 继电器 + INA219</a:t>
            </a:r>
          </a:p>
        </p:txBody>
      </p:sp>
      <p:pic>
        <p:nvPicPr>
          <p:cNvPr id="7" name="Picture 6" descr="phot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1371600"/>
            <a:ext cx="267462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72584" y="501091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俯视图：绿色接线端子的 INA219 与面包板走线</a:t>
            </a:r>
          </a:p>
        </p:txBody>
      </p:sp>
      <p:pic>
        <p:nvPicPr>
          <p:cNvPr id="9" name="Picture 8" descr="photo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1371600"/>
            <a:ext cx="267462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08976" y="501091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上电运行：LCD 背光亮、点阵点亮、继电器指示灯亮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8871" y="5669280"/>
            <a:ext cx="1504188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8871" y="5669280"/>
            <a:ext cx="15041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微软雅黑"/>
                <a:ea typeface="微软雅黑"/>
              </a:rPr>
              <a:t>51 开发板（普中 A2）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9363" y="566928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9363" y="5669280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微软雅黑"/>
                <a:ea typeface="微软雅黑"/>
              </a:rPr>
              <a:t>5V 继电器模块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79795" y="5669280"/>
            <a:ext cx="1312164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9795" y="5669280"/>
            <a:ext cx="13121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微软雅黑"/>
                <a:ea typeface="微软雅黑"/>
              </a:rPr>
              <a:t>INA219 电流检测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8263" y="5669280"/>
            <a:ext cx="928116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8263" y="5669280"/>
            <a:ext cx="9281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微软雅黑"/>
                <a:ea typeface="微软雅黑"/>
              </a:rPr>
              <a:t>LCD1602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2683" y="5669280"/>
            <a:ext cx="11201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683" y="5669280"/>
            <a:ext cx="11201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34155"/>
                </a:solidFill>
                <a:latin typeface="微软雅黑"/>
                <a:ea typeface="微软雅黑"/>
              </a:rPr>
              <a:t>面包板 + 杜邦线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软件设计：状态机 + 非阻塞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371600"/>
            <a:ext cx="11045952" cy="22402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0E7490"/>
                </a:solidFill>
                <a:latin typeface="微软雅黑"/>
                <a:ea typeface="微软雅黑"/>
              </a:rPr>
              <a:t>五个状态，一条分支链，每个控制周期只产生一个结论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空载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57400"/>
            <a:ext cx="3840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94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20574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21214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CHARGING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248716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充电中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057400"/>
            <a:ext cx="3840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94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2976" y="20574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2976" y="21214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FULL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6" y="248716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已充满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057400"/>
            <a:ext cx="3840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94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27264" y="20574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27264" y="21214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OVERHEAT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4" y="248716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过温保护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7504" y="2057400"/>
            <a:ext cx="3840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94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31552" y="2057400"/>
            <a:ext cx="1920240" cy="868680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212140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OCURRENT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2" y="2487168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过流跳闸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0358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过流 / 过温断开后</a:t>
            </a:r>
            <a:r>
              <a:rPr sz="1100" b="1">
                <a:solidFill>
                  <a:srgbClr val="EA580C"/>
                </a:solidFill>
                <a:latin typeface="微软雅黑"/>
                <a:ea typeface="微软雅黑"/>
              </a:rPr>
              <a:t>不会</a:t>
            </a:r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被下一句代码又吸合 —— 早期版本正是这里自相矛盾，过温保护形同虚设，这也是我重构成单分支链的原因。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" y="3840480"/>
            <a:ext cx="355701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0416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D4ED8"/>
                </a:solidFill>
                <a:latin typeface="微软雅黑"/>
                <a:ea typeface="微软雅黑"/>
              </a:rPr>
              <a:t>非阻塞主循环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62272"/>
            <a:ext cx="3154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DS18B20 一次转换要 750ms，程序拆成「上一秒启动、下一秒取结果」，主循环几十微秒一轮，按键和显示永不卡顿。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3840480"/>
            <a:ext cx="355701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79" y="40416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D4ED8"/>
                </a:solidFill>
                <a:latin typeface="微软雅黑"/>
                <a:ea typeface="微软雅黑"/>
              </a:rPr>
              <a:t>传感器容错降级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4462272"/>
            <a:ext cx="3154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每个周期都校验数据有效性；温度无效就只做电流保护，电流无效就只做温度保护，绝不拿垃圾数据去驱动继电器；掉线后每 2 秒自动重试。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4151" y="3840480"/>
            <a:ext cx="355701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40416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D4ED8"/>
                </a:solidFill>
                <a:latin typeface="微软雅黑"/>
                <a:ea typeface="微软雅黑"/>
              </a:rPr>
              <a:t>判满不用「== 0」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462272"/>
            <a:ext cx="3154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充电末期电流只衰减到几十 mA，永远到不了 0。改成「低于阈值持续 5 秒」，且必须本周期真的测到过充电电流，防止读数恒 0 时误判充满。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实现情况：软件全部完成，硬件三处受限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0E7490"/>
                </a:solidFill>
                <a:latin typeface="微软雅黑"/>
                <a:ea typeface="微软雅黑"/>
              </a:rPr>
              <a:t>已完成并验证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783080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0E7490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</a:rPr>
              <a:t>过流跳闸自锁 / 充满自动断电 / 空载判断 的完整状态机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185416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0E7490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8541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</a:rPr>
              <a:t>INA219 与 DS18B20 的完整驱动（探测、校验、掉线重连）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8775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0E7490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</a:rPr>
              <a:t>按键短按 / 长按 + 板载 LED 反馈条，阈值可调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99008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0E7490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</a:rPr>
              <a:t>开机自检：继电器、屏幕、传感器逐个探测并如实上报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392424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0E7490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9242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</a:rPr>
              <a:t>LCD 与点阵自动二选一，屏幕不在也不至于一片空白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794760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0E7490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微软雅黑"/>
                <a:ea typeface="微软雅黑"/>
              </a:rPr>
              <a:t>全程非阻塞，1ms 心跳调度采样 / 保护 / 显示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4343400"/>
            <a:ext cx="6400800" cy="14630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98848"/>
            <a:ext cx="5943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475569"/>
                </a:solidFill>
                <a:latin typeface="微软雅黑"/>
                <a:ea typeface="微软雅黑"/>
              </a:rPr>
              <a:t>受硬件限制的三项（下一节逐个说明）：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微软雅黑"/>
                <a:ea typeface="微软雅黑"/>
              </a:rPr>
              <a:t>① </a:t>
            </a: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温度实测 —— DS18B20 引脚松，接触不良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微软雅黑"/>
                <a:ea typeface="微软雅黑"/>
              </a:rPr>
              <a:t>② </a:t>
            </a: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电流实测 —— INA219 自焊端子焊点不良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微软雅黑"/>
                <a:ea typeface="微软雅黑"/>
              </a:rPr>
              <a:t>③ </a:t>
            </a:r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稳定显示 —— LCD1602 引脚接触不良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71600"/>
            <a:ext cx="4297680" cy="4434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78308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4ADE80"/>
                </a:solidFill>
                <a:latin typeface="微软雅黑"/>
                <a:ea typeface="微软雅黑"/>
              </a:rPr>
              <a:t>0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49631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微软雅黑"/>
                <a:ea typeface="微软雅黑"/>
              </a:rPr>
              <a:t>Keil C51 编译结果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20040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93C5FD"/>
                </a:solidFill>
                <a:latin typeface="微软雅黑"/>
                <a:ea typeface="微软雅黑"/>
              </a:rPr>
              <a:t>4577 字节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7673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微软雅黑"/>
                <a:ea typeface="微软雅黑"/>
              </a:rPr>
              <a:t>代码尺寸 · RAM 占用 116 字节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61772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BBF24"/>
                </a:solidFill>
                <a:latin typeface="微软雅黑"/>
                <a:ea typeface="微软雅黑"/>
              </a:rPr>
              <a:t>11 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1846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CBD5E1"/>
                </a:solidFill>
                <a:latin typeface="微软雅黑"/>
                <a:ea typeface="微软雅黑"/>
              </a:rPr>
              <a:t>源文件模块，全部自己实现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遇到的问题 ①　DS18B20 引脚松，无法检测温度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01168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8000" b="1">
                <a:solidFill>
                  <a:srgbClr val="EA580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356616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334155"/>
                </a:solidFill>
                <a:latin typeface="微软雅黑"/>
                <a:ea typeface="微软雅黑"/>
              </a:rPr>
              <a:t>温度保护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334155"/>
                </a:solidFill>
                <a:latin typeface="微软雅黑"/>
                <a:ea typeface="微软雅黑"/>
              </a:rPr>
              <a:t>硬件失效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44475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3736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温度传感器插不紧、拔插几次后就咬不住，程序自检读不到温度，过温保护拿不到真实数据。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46888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46888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54203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原因定位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83464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TO-92 封装的引脚太短，面包板 / 排针孔咬合不牢，属于纯粹的机械接触问题，不是驱动写错了。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56616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356616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39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代码应对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93192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用宏 TEMP_SENSOR_EN 把真实测温关掉，但温度保护的代码一行都没删：超温断电、2℃ 回差恢复、量程校验全部保留；自检页如实显示 T-SENS:OFF，其余保护逻辑完全不受影响。换一个好传感器、改一个宏就能恢复。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66344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477316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微软雅黑"/>
                <a:ea typeface="微软雅黑"/>
              </a:rPr>
              <a:t>收获：</a:t>
            </a: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硬件不可靠时，软件要做的是「如实上报 + 优雅降级」—— 明确告诉用户哪一路坏了，而不是带着错误数据继续执行保护动作。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遇到的问题 ②　INA219 自焊端子焊点不良，测不到电流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01168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8000" b="1">
                <a:solidFill>
                  <a:srgbClr val="EA580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356616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334155"/>
                </a:solidFill>
                <a:latin typeface="微软雅黑"/>
                <a:ea typeface="微软雅黑"/>
              </a:rPr>
              <a:t>电流检测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334155"/>
                </a:solidFill>
                <a:latin typeface="微软雅黑"/>
                <a:ea typeface="微软雅黑"/>
              </a:rPr>
              <a:t>时通时断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44475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3736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程序探测不到 INA219，自检页显示 INA:NG；偶尔能连上，读数又跳变，电流电压拿不稳。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46888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46888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54203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原因定位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83464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模块的绿色接线端子是自己焊的，焊点不良 —— 测量主回路和 I2C 通信线都从这里走，虚焊让两条链路一起时通时断。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56616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356616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39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代码应对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93192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① 开机探测 + 掉线后每 2 秒自动重试初始化（虚焊可能自己又好了）；② 数据过有效性校验才采纳；③ 加 g_charged 标志 —— 没真的测到过充电电流就永远不许判满，避免「读数恒 0 → 5 秒后被判充满 → 一上电就断电」的误动作。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66344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477316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微软雅黑"/>
                <a:ea typeface="微软雅黑"/>
              </a:rPr>
              <a:t>收获：</a:t>
            </a: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测量芯片必须串进主回路才能测到电流；焊接质量直接决定模块能不能用；驱动程序要假设「器件随时会掉线」来写。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384048"/>
            <a:ext cx="82296" cy="40233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1752"/>
            <a:ext cx="10789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>
                <a:solidFill>
                  <a:srgbClr val="1A1A1A"/>
                </a:solidFill>
                <a:latin typeface="微软雅黑"/>
                <a:ea typeface="微软雅黑"/>
              </a:rPr>
              <a:t>遇到的问题 ③　LCD1602 引脚接触不良，显示不稳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01168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8000" b="1">
                <a:solidFill>
                  <a:srgbClr val="EA580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356616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334155"/>
                </a:solidFill>
                <a:latin typeface="微软雅黑"/>
                <a:ea typeface="微软雅黑"/>
              </a:rPr>
              <a:t>显示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334155"/>
                </a:solidFill>
                <a:latin typeface="微软雅黑"/>
                <a:ea typeface="微软雅黑"/>
              </a:rPr>
              <a:t>时好时坏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44475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3736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屏幕时亮时不亮、偶尔整行乱码，排线一碰就掉；有时上电背光亮着却一个字都不出。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46888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46888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54203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原因定位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83464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LCD 排针与杜邦线 / 面包板接触不良，16 根线里任何一根松了都会让显示异常。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566160"/>
            <a:ext cx="8595360" cy="9601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3566160"/>
            <a:ext cx="64008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39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微软雅黑"/>
                <a:ea typeface="微软雅黑"/>
              </a:rPr>
              <a:t>代码应对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931920"/>
            <a:ext cx="813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</a:rPr>
              <a:t>① 写了 LCD_Check()：开机读忙标志与地址计数器，探测屏幕到底在不在；② 屏幕不在就自动切到板载 8x8 点阵显示状态图标（√ 正常 / ! 传感器异常 / × 保护动作），系统不会因为显示挂掉而瘫痪；③ 本作品干脆把 LCD 当耗电负载串进主回路 —— 跳闸瞬间屏幕熄灭，反而成了最直观的「断电指示灯」。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66344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477316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1">
                <a:solidFill>
                  <a:srgbClr val="FBBF24"/>
                </a:solidFill>
                <a:latin typeface="微软雅黑"/>
                <a:ea typeface="微软雅黑"/>
              </a:rPr>
              <a:t>收获：</a:t>
            </a:r>
            <a:r>
              <a:rPr sz="1100" b="0">
                <a:solidFill>
                  <a:srgbClr val="E2E8F0"/>
                </a:solidFill>
                <a:latin typeface="微软雅黑"/>
                <a:ea typeface="微软雅黑"/>
              </a:rPr>
              <a:t>显示只是人机界面，不能让它决定系统死活 —— 给关键外设做存在性探测和降级方案，比反复重插排线可靠得多。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3825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充电保护器 · CPOE 招新作品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825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3C5FD"/>
                </a:solidFill>
                <a:latin typeface="微软雅黑"/>
                <a:ea typeface="微软雅黑"/>
              </a:rPr>
              <a:t>收获与展望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8686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作品还有遗憾，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但每一步都搞清楚了为什么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429000" cy="2103120"/>
          </a:xfrm>
          <a:prstGeom prst="roundRect">
            <a:avLst>
              <a:gd name="adj" fmla="val 7000"/>
            </a:avLst>
          </a:prstGeom>
          <a:solidFill>
            <a:srgbClr val="1B2942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015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学会先分清软硬件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CBD5E1"/>
                </a:solidFill>
                <a:latin typeface="微软雅黑"/>
                <a:ea typeface="微软雅黑"/>
              </a:rPr>
              <a:t>「什么都不灵」的时候，最容易瞎改代码。我做了开机自检和独立验证固件，把传感器、屏幕、继电器逐个排查，最后确认问题全在接触与焊接上 —— 排查方法比结论更重要。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200400"/>
            <a:ext cx="3429000" cy="2103120"/>
          </a:xfrm>
          <a:prstGeom prst="roundRect">
            <a:avLst>
              <a:gd name="adj" fmla="val 7000"/>
            </a:avLst>
          </a:prstGeom>
          <a:solidFill>
            <a:srgbClr val="1B2942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4015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资源约束是真实的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8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CBD5E1"/>
                </a:solidFill>
                <a:latin typeface="微软雅黑"/>
                <a:ea typeface="微软雅黑"/>
              </a:rPr>
              <a:t>8051 只有 128 字节直接寻址 RAM，加功能就会溢出。删掉未调用函数、计时改 16 位、只留一个 17 字节行缓冲才把 RAM 压回 116 字节。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00400"/>
            <a:ext cx="3429000" cy="2103120"/>
          </a:xfrm>
          <a:prstGeom prst="roundRect">
            <a:avLst>
              <a:gd name="adj" fmla="val 7000"/>
            </a:avLst>
          </a:prstGeom>
          <a:solidFill>
            <a:srgbClr val="1B2942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4015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Warning 不能忽略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84048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CBD5E1"/>
                </a:solidFill>
                <a:latin typeface="微软雅黑"/>
                <a:ea typeface="微软雅黑"/>
              </a:rPr>
              <a:t>I2C.c 漏了两个函数，Keil 只给警告却照样生成 hex，运行时直接跑飞。从那以后每次都确认 0 Error 再烧录。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93C5FD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5577840"/>
            <a:ext cx="2404872" cy="411480"/>
          </a:xfrm>
          <a:prstGeom prst="roundRect">
            <a:avLst>
              <a:gd name="adj" fmla="val 50000"/>
            </a:avLst>
          </a:prstGeom>
          <a:solidFill>
            <a:srgbClr val="243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557784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微软雅黑"/>
                <a:ea typeface="微软雅黑"/>
              </a:rPr>
              <a:t>重焊 INA219 端子，恢复电流实测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9704" y="5577840"/>
            <a:ext cx="2734056" cy="411480"/>
          </a:xfrm>
          <a:prstGeom prst="roundRect">
            <a:avLst>
              <a:gd name="adj" fmla="val 50000"/>
            </a:avLst>
          </a:prstGeom>
          <a:solidFill>
            <a:srgbClr val="243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5577840"/>
            <a:ext cx="27340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微软雅黑"/>
                <a:ea typeface="微软雅黑"/>
              </a:rPr>
              <a:t>固定 / 更换 DS18B20，恢复温度保护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352" y="5577840"/>
            <a:ext cx="2185416" cy="411480"/>
          </a:xfrm>
          <a:prstGeom prst="roundRect">
            <a:avLst>
              <a:gd name="adj" fmla="val 50000"/>
            </a:avLst>
          </a:prstGeom>
          <a:solidFill>
            <a:srgbClr val="243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5577840"/>
            <a:ext cx="218541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微软雅黑"/>
                <a:ea typeface="微软雅黑"/>
              </a:rPr>
              <a:t>加 WiFi 模块远程查看充电状态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